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objectives out loud, then ask the room which one they're most sceptical about. Note their answer; return to it in the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 A is better for sceptical or senior groups; Option B is better for energy. Debrief before moving on — the point is the feedback loop, not the planes.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bash waterfall — it is a good fit for some problems. The argument is that product development is mostly learning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this is a preference, not a ban. Ask the team for one recent example of each value being violated.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do not need to memorise all twelve. Pick the two the team finds hardest and return to them in the activity.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which myth the room has heard from a colleague or manager. Myths held by stakeholders quietly undermine adoption.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agilemanifesto.org" TargetMode="External"/><Relationship Id="rId2" Type="http://schemas.openxmlformats.org/officeDocument/2006/relationships/hyperlink" Target="https://scrumguides.org" TargetMode="External"/><Relationship Id="rId3" Type="http://schemas.openxmlformats.org/officeDocument/2006/relationships/hyperlink" Target="https://www.agilealliance.org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Agile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exists, what it asks of us, and what changes on Monday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scrummaster-hub.vercel.app/workshops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will be able to…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Introduction to Agile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Explain, in your own words, the problem Agile was created to solve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four Agile values and what each looks like as team behaviour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an Agile mindset apart from a method such as Scrum, Kanban or XP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common myths about Agile before they shape your team's habits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two concrete things that will work differently for us starting next sprint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513332" cy="274320"/>
          </a:xfrm>
          <a:prstGeom prst="roundRect">
            <a:avLst>
              <a:gd name="adj" fmla="val 26667"/>
            </a:avLst>
          </a:prstGeom>
          <a:solidFill>
            <a:srgbClr val="F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 — pick 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Introduction to Agile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1600200"/>
            <a:ext cx="49514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· 5 min · Project horror story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77240" y="2286000"/>
            <a:ext cx="4951476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shares one sentence: the worst late surprise they ever hit on a project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each story as a sticky note — no discussion yet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the notes into themes (late feedback, changing needs, hidden risk)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board visible: we'll map it to Agile values later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60236" y="1600200"/>
            <a:ext cx="49514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· 10 min · Paper-plane iterations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460236" y="2286000"/>
            <a:ext cx="4951476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1: plan one perfect plane for 3 minutes, build it, fly it once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2: three 1-minute cycles — build, test-fly, adjust the design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distance flown in each approach and compare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what did the short cycles let you learn that the long plan could not?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FFF1F2"/>
          </a:solidFill>
          <a:ln w="12700">
            <a:solidFill>
              <a:srgbClr val="BE123C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Both options surface the same insight: the earlier you get real feedback, the cheaper being wrong becomes.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Agile answers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Introduction to Agile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change while we build: customers, markets and even our own understanding move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Big-batch plans assume we know everything upfront — and problems surface only at the end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strictly sequential 'waterfall' picture is usually traced to a 1970 paper by Winston Royce, who himself warned that the pure form was risky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plans still fit stable, well-understood work (think: a bridge with fixed specs)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product work is different: we learn what to build by building and showing it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is a response to uncertainty: shorten the distance between an assumption and real feedback.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Complicated vs. complex 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Introduction to Agile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60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Complicated (analysis finds the answer)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316988"/>
            <a:ext cx="4951476" cy="290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and effect can be worked out by experts in advance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sense → analyse → respond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tuning a database index, planning a cabling job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upfront planning works well here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(you learn by trying)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and effect only visible in hindsight; users surprise us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probe → sense → respond (small safe experiments)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what will make customers actually adopt a new feature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cycles and fast feedback beat long plans here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Distinction from Snowden's Cynefin framework: most product work is complex, so we need to learn as we go.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values, as team behaviour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Introduction to Agile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2973036"/>
                <a:gridCol w="2973036"/>
                <a:gridCol w="505416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Agile values this more…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…than this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looks like on a team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Individuals and interactions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Processes and tools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 over and talk before opening a ticket or starting a long thread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software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Comprehensive documentation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the running product; document what genuinely helps the next person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collaboration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negotiation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customers work early and adjust scope together as we learn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Responding to change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Following a plan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Re-order the backlog every sprint instead of defending a fixed plan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value in the items on the right — the values simply say what to favour when the two conflict.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principles in four themes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Introduction to Agile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5317236" cy="47548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value &amp; welcome change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77240" y="2022602"/>
            <a:ext cx="4951476" cy="4058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Satisfy the customer with early, continuous delivery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working results frequently — weeks, not months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product is the primary measure of progress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changing requirements, even late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sustainable pace we can hold indefinitely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77356" y="1463040"/>
            <a:ext cx="5317236" cy="47548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People, craft &amp; reflection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460236" y="2022602"/>
            <a:ext cx="4951476" cy="4058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people and developers work together daily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motivated individuals and give them what they need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Face-to-face conversation is the richest channel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to technical excellence; simplicity — maximise work not done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Self-organising teams; reflect and adjust regularly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is a mindset; frameworks are how we practise it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Introduction to Agile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2378429"/>
                <a:gridCol w="3864946"/>
                <a:gridCol w="4756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idea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gives a team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Scrum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Fixed-length sprints with defined roles and events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cadence for inspecting and adapting product and process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Kanban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Visualise work, limit work in progress, manage flow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on finishing and steady, predictable delivery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 Programming (XP)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practices: TDD, pair programming, CI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that stays easy to change and safe to release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 thinking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Eliminate waste, optimise the whole flow of value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lens for finding delays and non-value-adding work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change; the values underneath — transparency, feedback, adaptation — stay the same.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myths — and the reality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Introduction to Agile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3300070"/>
                <a:gridCol w="770016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Agile means no documentation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is valued when it helps; it just is not a substitute for a working product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Agile means no planning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plan constantly, in smaller pieces, and revise as we learn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Agile means no commitments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 commit to a Sprint Goal and are accountable for it — they just re-plan honestly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Agile means going faster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is a by-product of short feedback loops catching problems early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609344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example: one feature, two approaches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Introduction to Agile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Plan-everything approach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Feature: 'Save for later' on an online shop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 of specification, build and test, then a big launch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shows shoppers use it to compare prices, not to buy later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needed — but the budget and the team are already spent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Learn-as-we-go approach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ship a plain 'Save' button to 10% of users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usage data shows people revisit saved items to compare prices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add a comparison view — the feature people actually wanted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team and skills; the difference is when we learned we were wrong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scenario. Agile does not prevent being wrong — it makes being wrong cheap and early.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705356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USE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already see this in real life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Introduction to Agile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teams test a campaign on a small audience before spending the full budget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and product teams build cheap prototypes to learn before tooling up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teams run short weekly improvement cycles instead of yearly reorganisations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Public-sector and HR teams pilot a new service with one group, then expand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us: the first release will be small and imperfect on purpose, so we can learn from real use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FFFBEB"/>
          </a:solidFill>
          <a:ln w="12700">
            <a:solidFill>
              <a:srgbClr val="B45309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is a way of working with uncertainty — software is just where it was first written down.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teams misread Agile in week 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Introduction to Agile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ceremonies as the point — running meetings without changing any behaviour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all documentation and then losing knowledge when people leave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Adopting a tool (a board, a new ticketing system) before adopting the habit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'we're Agile' to avoid making commitments or estimating honestly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Expecting speed immediately — the first sprints will feel slower while we learn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033272" cy="274320"/>
          </a:xfrm>
          <a:prstGeom prst="roundRect">
            <a:avLst>
              <a:gd name="adj" fmla="val 26667"/>
            </a:avLst>
          </a:prstGeom>
          <a:solidFill>
            <a:srgbClr val="F0F9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from our pain to Agile values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Introduction to Agile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the horror stories (5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stickies from the ice breaker or write 3 recent examples from our own work.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464308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446020"/>
            <a:ext cx="10314432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each to a value or principle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value would have prevented or softened it? Which principle would we have needed to follow?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3447288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429000"/>
            <a:ext cx="10314432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two behaviours to try (5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two specific, small changes for our first sprint — e.g. show work at mid-sprint, talk before ticketing.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4430268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4411980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them down (2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them to the team board; we will inspect them at the first retrospective.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F0F9FF"/>
          </a:solidFill>
          <a:ln w="12700">
            <a:solidFill>
              <a:srgbClr val="0369A1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behaviours we can observe, not attitudes we hope for.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Introduction to Agile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exists because product work is complex — we learn by getting feedback early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values state a preference; they do not ban documentation, plans or contracts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Scrum, Kanban and XP are ways of practising the mindset, not the mindset itself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way to learn Agile is to run a small, real experiment and inspect it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'Scrum in a Nutshell' — the framework we will use to practise this.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deeper: sources worth your time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Introduction to Agile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Manifesto for Agile Software Development and its Principles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 Manifesto authors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WEBSITE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source — read the four values and twelve principles in five minutes.</a:t>
            </a:r>
            <a:pPr indent="0" marL="0">
              <a:buNone/>
            </a:pPr>
            <a:r>
              <a:rPr lang="en-US" sz="120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https://agilemanifesto.org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Scrum Guide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Ken Schwaber &amp; Jeff Sutherland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GUIDE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official, free definition of Scrum — short enough to read in one sitting.</a:t>
            </a:r>
            <a:pPr indent="0" marL="0">
              <a:buNone/>
            </a:pPr>
            <a:r>
              <a:rPr lang="en-US" sz="120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https://scrumguides.org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Leader's Framework for Decision Making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David Snowden &amp; Mary Boone, Harvard Business Review (2007)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ARTICLE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Cynefin — why complex problems call for probing and learning.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Alliance — Agile glossary and introductions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Agile Alliance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WEBSITE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nonprofit's free, well-organised reference on Agile ideas and terms.</a:t>
            </a:r>
            <a:pPr indent="0" marL="0">
              <a:buNone/>
            </a:pPr>
            <a:r>
              <a:rPr lang="en-US" sz="120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https://www.agilealliance.org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Software Development: The Cooperative Game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Alistair Cockburn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software as a cooperative, communication-driven activity — the thinking behind the people-first values.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ScrumMaster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Agile</dc:title>
  <dc:subject>Why it exists, what it asks of us, and what changes on Monday</dc:subject>
  <dc:creator>ScrumMaster Hub</dc:creator>
  <cp:lastModifiedBy>ScrumMaster Hub</cp:lastModifiedBy>
  <cp:revision>1</cp:revision>
  <dcterms:created xsi:type="dcterms:W3CDTF">2026-09-26T13:44:41Z</dcterms:created>
  <dcterms:modified xsi:type="dcterms:W3CDTF">2026-09-26T13:44:41Z</dcterms:modified>
</cp:coreProperties>
</file>