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scrumguides.org" TargetMode="External"/><Relationship Id="rId2" Type="http://schemas.openxmlformats.org/officeDocument/2006/relationships/hyperlink" Target="https://www.scrum.org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PRESENTATION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424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DoR, DoD, AC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1148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'ready', 'done' and 'accepted' explicit for our team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scrummaster-hub.vercel.app/workshops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417320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 you will be able to…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DoR, DoD, AC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Definition of Ready, Definition of Done and Acceptance Criteria — and how they differ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the Definition of Done is a Scrum commitment while Definition of Ready is optional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acceptance criteria that are specific, testable and cover edge cases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 first Definition of Done and Definition of Ready for our team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where they live and how they will be enforced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513332" cy="274320"/>
          </a:xfrm>
          <a:prstGeom prst="roundRect">
            <a:avLst>
              <a:gd name="adj" fmla="val 26667"/>
            </a:avLst>
          </a:prstGeom>
          <a:solidFill>
            <a:srgbClr val="FFF1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BREAKER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breaker — pick one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DoR, DoD, AC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00200"/>
            <a:ext cx="49514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· 6 min · What does 'done' mean?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2286000"/>
            <a:ext cx="4951476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everyone to write what 'done' means for cleaning a kitchen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answers: dishes? wiped surfaces? floor? bin taken out?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how it would feel if you thought you were done and your flatmate did not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software: work called done that is not done for someone else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77356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0236" y="1600200"/>
            <a:ext cx="49514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· 6 min · Order a vague coffee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60236" y="2286000"/>
            <a:ext cx="4951476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volunteer orders 'a good coffee' from another who has to deliver it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something plausible but wrong; the customer says 'not what I meant'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with clear acceptance criteria: size, milk, temperature, strength</a:t>
            </a:r>
            <a:endParaRPr lang="en-US" sz="17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Debrief: what changed once the criteria were explicit?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FFF1F2"/>
          </a:solidFill>
          <a:ln w="12700">
            <a:solidFill>
              <a:srgbClr val="BE123C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Debrief: Both exercises show the same problem: unspoken standards. These three definitions make them spoken.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terms, three scopes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DoR, DoD, AC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63040"/>
          <a:ext cx="11000232" cy="914400"/>
        </p:xfrm>
        <a:graphic>
          <a:graphicData uri="http://schemas.openxmlformats.org/drawingml/2006/table">
            <a:tbl>
              <a:tblPr/>
              <a:tblGrid>
                <a:gridCol w="2397486"/>
                <a:gridCol w="2256458"/>
                <a:gridCol w="2538515"/>
                <a:gridCol w="380777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Applies to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Owned by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 of Ready (DoR)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story before it enters a Sprint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with the Product Owner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 risk from unclear work — an optional practice, not part of the Scrum Guide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 of Done (DoD)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Increment, all the time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Scrum Team (organisation may set a minimum)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formal commitment: the shared standard for 'complete'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Acceptance Criteria (AC)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specific story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Owner with the team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Testable conditions for this story to be accepted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says 'this story works'. DoD says 'this work is built to our quality standard'. Both must be true.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into a Definition of Done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DoR, DoD, AC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00200"/>
            <a:ext cx="4951476" cy="31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well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77240" y="2022602"/>
            <a:ext cx="4951476" cy="3198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reviewed by a peer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written and passing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known critical defects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Meets agreed non-functional needs (performance, security, accessibility)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77356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0236" y="1600200"/>
            <a:ext cx="4951476" cy="31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use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60236" y="2022602"/>
            <a:ext cx="4951476" cy="3198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with the main branch and built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to an agreed environment (or releasable)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 verified against the running product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or release notes updated where relevant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item that does not meet the DoD cannot be treated as done — it returns to the Product Backlog.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good acceptance criteria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DoR, DoD, AC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463040"/>
            <a:ext cx="5317236" cy="4754880"/>
          </a:xfrm>
          <a:prstGeom prst="roundRect">
            <a:avLst>
              <a:gd name="adj" fmla="val 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00200"/>
            <a:ext cx="4951476" cy="31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Qualities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77240" y="2022602"/>
            <a:ext cx="4951476" cy="4058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Specific: no words like 'fast' or 'user-friendly' without a measure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Testable: a person could check yes or no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failure and edge cases, not only the happy path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handful per story — many criteria usually mean the story is too big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77356" y="1463040"/>
            <a:ext cx="5317236" cy="4754880"/>
          </a:xfrm>
          <a:prstGeom prst="roundRect">
            <a:avLst>
              <a:gd name="adj" fmla="val 153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0236" y="1600200"/>
            <a:ext cx="4951476" cy="31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common formats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60236" y="2022602"/>
            <a:ext cx="4951476" cy="4058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Checklist: 'Promo code field accepts up to 12 characters'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Given–When–Then scenarios, from behaviour-driven development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format that the team and Product Owner find clearest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them during refinement, before the Sprint — not after coding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Given–When–Then in practice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DoR, DoD, AC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63040"/>
          <a:ext cx="11000232" cy="914400"/>
        </p:xfrm>
        <a:graphic>
          <a:graphicData uri="http://schemas.openxmlformats.org/drawingml/2006/table">
            <a:tbl>
              <a:tblPr/>
              <a:tblGrid>
                <a:gridCol w="3618497"/>
                <a:gridCol w="3184278"/>
                <a:gridCol w="41974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Given (context)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(action)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Then (outcome)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basket worth $50 and a valid 10% code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shopper applies the code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total shows $45 and the code is marked applied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expired code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shopper applies it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'expired' message appears; the total is unchanged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code already used on this account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shopper applies it again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system rejects it with a clear message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code typed in lower case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shopper applies it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accepted the same as upper case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Behaviour-driven development style popularised by Dan North. The value is shared understanding, not the syntax.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Ready: use with care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DoR, DoD, AC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checklist for whether a story is clear enough to plan: value understood, acceptance criteria written, dependencies known, small enough</a:t>
            </a:r>
            <a:endParaRPr lang="en-US" sz="21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is a good starting point for the checklist</a:t>
            </a:r>
            <a:endParaRPr lang="en-US" sz="21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it as a conversation guide, not a gate that blocks the Product Owner</a:t>
            </a:r>
            <a:endParaRPr lang="en-US" sz="21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short and revisit it — a heavy DoR slows the team and hides ambiguity</a:t>
            </a:r>
            <a:endParaRPr lang="en-US" sz="21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part of the Scrum Guide; some teams do well without one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DoR becomes a reason to reject work, it has become bureaucracy.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609344" cy="274320"/>
          </a:xfrm>
          <a:prstGeom prst="roundRect">
            <a:avLst>
              <a:gd name="adj" fmla="val 26667"/>
            </a:avLst>
          </a:prstGeom>
          <a:solidFill>
            <a:srgbClr val="ECFD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example: a story with its criteria and DoD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DoR, DoD, AC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00200"/>
            <a:ext cx="4951476" cy="31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and acceptance criteria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77240" y="2022602"/>
            <a:ext cx="4951476" cy="3198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shopper, I want to apply a promo code so that I pay less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code reduces the total and shows the discount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Expired, used or unknown codes give a clear message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code per order; codes ignore letter case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77356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0236" y="1600200"/>
            <a:ext cx="4951476" cy="31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Definition of Done (excerpt)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60236" y="2022602"/>
            <a:ext cx="4951476" cy="3198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Peer-reviewed; unit and integration tests pass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to test environment and demoed to the Product Owner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accessibility or security warnings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notes and release notes updated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CFDF5"/>
          </a:solidFill>
          <a:ln w="12700">
            <a:solidFill>
              <a:srgbClr val="047857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example — your own criteria and standard should reflect your product and risks.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705356" cy="274320"/>
          </a:xfrm>
          <a:prstGeom prst="roundRect">
            <a:avLst>
              <a:gd name="adj" fmla="val 26667"/>
            </a:avLst>
          </a:prstGeom>
          <a:solidFill>
            <a:srgbClr val="FFFB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USE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these definitions matter in real life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DoR, DoD, AC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Refinement: acceptance criteria uncover missing edge cases before we build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Review: only work that meets the DoD is presented as done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and vendors: an explicit DoD prevents disputes about 'finished' work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industries: DoD items can include audit evidence and traceability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deadline pressure: the DoD is what protects quality from quiet compromise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321308" cy="274320"/>
          </a:xfrm>
          <a:prstGeom prst="roundRect">
            <a:avLst>
              <a:gd name="adj" fmla="val 26667"/>
            </a:avLst>
          </a:prstGeom>
          <a:solidFill>
            <a:srgbClr val="FE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these definitions go wrong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DoR, DoD, AC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Definition of Done written as aspiration that nobody can meet — so it is quietly ignored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 written after the code, to match what was built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criteria on one story — a sign it needs slicing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Definition of Ready used to block the Product Owner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 living in a wiki nobody opens instead of on the board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033272" cy="274320"/>
          </a:xfrm>
          <a:prstGeom prst="roundRect">
            <a:avLst>
              <a:gd name="adj" fmla="val 26667"/>
            </a:avLst>
          </a:prstGeom>
          <a:solidFill>
            <a:srgbClr val="F0F9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build our three definitions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DoR, DoD, AC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81328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463040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the Definition of Done (20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brainstorm, cluster, then agree a checklist we can actually meet today.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" y="2185416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167128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 short Definition of Ready (15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to seven items; mark any we would not enforce strictly.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" y="2889504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871216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acceptance criteria (20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real vague story and rewrite its criteria as testable scenarios.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" y="3593592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575304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visibility and enforcement (10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both checklists on the board; can our tool enforce fields or reviews?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321308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DoR, DoD, AC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AC: one story. DoD: every Increment. DoR: an optional check before planning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DoD is a Scrum commitment — work that does not meet it is not done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acceptance criteria are specific, testable and cover edge cases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definitions short, visible and revisited as the team improves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321308" cy="274320"/>
          </a:xfrm>
          <a:prstGeom prst="roundRect">
            <a:avLst>
              <a:gd name="adj" fmla="val 26667"/>
            </a:avLst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deeper: sources worth your time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DoR, DoD, AC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Scrum Guide — Definition of Done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Ken Schwaber &amp; Jeff Sutherland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GUIDE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official statement of the DoD as a commitment.</a:t>
            </a:r>
            <a:pPr indent="0" marL="0">
              <a:buNone/>
            </a:pPr>
            <a:r>
              <a:rPr lang="en-US" sz="1200" u="sng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https://scrumguides.org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by Example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Gojko Adzic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BOOK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concrete examples as shared acceptance criteria.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BDD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Dan North (2006)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ARTICLE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 of Given–When–Then style scenarios.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 Applied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Mike Cohn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BOOK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stories and acceptance tests together.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Scrum.org — Definition of Done resources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Scrum.org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WEBSITE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 and guidance on the DoD from Scrum.org.</a:t>
            </a:r>
            <a:pPr indent="0" marL="0">
              <a:buNone/>
            </a:pPr>
            <a:r>
              <a:rPr lang="en-US" sz="1200" u="sng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https://www.scrum.org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ScrumMaster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DoR, DoD, AC</dc:title>
  <dc:subject>Making 'ready', 'done' and 'accepted' explicit for our team</dc:subject>
  <dc:creator>ScrumMaster Hub</dc:creator>
  <cp:lastModifiedBy>ScrumMaster Hub</cp:lastModifiedBy>
  <cp:revision>1</cp:revision>
  <dcterms:created xsi:type="dcterms:W3CDTF">2026-09-26T13:44:42Z</dcterms:created>
  <dcterms:modified xsi:type="dcterms:W3CDTF">2026-09-26T13:44:42Z</dcterms:modified>
</cp:coreProperties>
</file>