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crum.org" TargetMode="External"/><Relationship Id="rId2" Type="http://schemas.openxmlformats.org/officeDocument/2006/relationships/hyperlink" Target="https://scrummaster-hub.vercel.app/assessment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PRESENTATION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424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Assessment for All the Team Members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41148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shared, honest picture of how we work — and where to improve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scrummaster-hub.vercel.app/workshops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417320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 you will be able to…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Agile Assessment for All the Team Members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a team assesses itself — and how that differs from an audit or appraisal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dimensions and write behaviour-based statements to rate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 anonymous assessment and read the spread, not only the average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results into one focused improvement experiment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rhythm for repeating the assessment and tracking trends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513332" cy="274320"/>
          </a:xfrm>
          <a:prstGeom prst="roundRect">
            <a:avLst>
              <a:gd name="adj" fmla="val 26667"/>
            </a:avLst>
          </a:prstGeom>
          <a:solidFill>
            <a:srgbClr val="FFF1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BREAKER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breaker — pick one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Agile Assessment for All the Team Members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4951476" cy="281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· 5 min · Fist to five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1991614"/>
            <a:ext cx="4951476" cy="322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'How healthy is our teamwork right now?' — show 0 to 5 fingers at the same time</a:t>
            </a:r>
            <a:endParaRPr lang="en-US" sz="16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the spread aloud: 'I see a two, a three, and several fours'</a:t>
            </a:r>
            <a:endParaRPr lang="en-US" sz="16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 one low and one high voice to say what is behind their number</a:t>
            </a:r>
            <a:endParaRPr lang="en-US" sz="16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out: the differences are more interesting than the average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77356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0236" y="1600200"/>
            <a:ext cx="4951476" cy="545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· 6 min · Traffic-light check-in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60236" y="2255012"/>
            <a:ext cx="4951476" cy="2966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three areas on the wall: how we plan, how we deliver, how we work together</a:t>
            </a:r>
            <a:endParaRPr lang="en-US" sz="16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 places a red, amber or green dot on each area, silently</a:t>
            </a:r>
            <a:endParaRPr lang="en-US" sz="16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pattern: where are dots clustered, and where are they scattered?</a:t>
            </a:r>
            <a:endParaRPr lang="en-US" sz="16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what each colour tells us — and what we do not yet know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FFF1F2"/>
          </a:solidFill>
          <a:ln w="12700">
            <a:solidFill>
              <a:srgbClr val="BE123C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Debrief: Either one demonstrates the assessment idea in miniature: individual views, made visible, then discussed.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team assesses itself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Agile Assessment for All the Team Members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get a shared baseline: where are we today, in our own words?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reveal where team members see things differently — often the most useful finding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focus improvement on one area at a time instead of guessing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track progress: repeat regularly and watch the trend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start a conversation, not to award a grade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learning and improvement. If people fear the result, the data will be unreliable.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Assessment, audit and appraisal are different things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Agile Assessment for All the Team Members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0232" cy="914400"/>
        </p:xfrm>
        <a:graphic>
          <a:graphicData uri="http://schemas.openxmlformats.org/drawingml/2006/table">
            <a:tbl>
              <a:tblPr/>
              <a:tblGrid>
                <a:gridCol w="1787538"/>
                <a:gridCol w="3162567"/>
                <a:gridCol w="3025064"/>
                <a:gridCol w="30250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self-assessment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/ compliance check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appraisal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 and improve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against a standard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 an individual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does 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team itself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outside party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manager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Consequence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 experiment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/ fail or findings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Rating, pay or promotion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handling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Anonymous, shared with the team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Reported to auditors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Confidential HR record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team assessment data to judge individuals — it kills honesty.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assess: choose dimensions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Agile Assessment for All the Team Members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Practising Scrum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77240" y="2022602"/>
            <a:ext cx="4951476" cy="3198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run with purpose and produce decisions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Backlog is ordered and refined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Done is used and respected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Goal is clear and used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77356" y="1463040"/>
            <a:ext cx="5317236" cy="3895344"/>
          </a:xfrm>
          <a:prstGeom prst="roundRect">
            <a:avLst>
              <a:gd name="adj" fmla="val 18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0236" y="1600200"/>
            <a:ext cx="4951476" cy="312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together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60236" y="2022602"/>
            <a:ext cx="4951476" cy="3198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and psychological safety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with stakeholders and feedback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practices and quality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and use of metrics</a:t>
            </a:r>
            <a:endParaRPr lang="en-US" sz="18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and continuous improvement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site's Maturity Self-Assessment uses seven dimensions for the Scrum Master role — a good model to adapt.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statements people can rate honestly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Agile Assessment for All the Team Members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0232" cy="914400"/>
        </p:xfrm>
        <a:graphic>
          <a:graphicData uri="http://schemas.openxmlformats.org/drawingml/2006/table">
            <a:tbl>
              <a:tblPr/>
              <a:tblGrid>
                <a:gridCol w="3928654"/>
                <a:gridCol w="707157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statement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statement (behaviour you could observe)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are good at Scrum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usually meet our Sprint Goal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retros are effective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complete most actions we agree in retrospectives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collaborate well with stakeholders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Stakeholders give us feedback on working software every Sprint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quality is high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rarely find defects after an item is called Done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1–5 scale from 'rarely' to 'always'. One idea per statement; 3–5 statements per dimension is plenty.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models to borrow from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Agile Assessment for All the Team Members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0232" cy="914400"/>
        </p:xfrm>
        <a:graphic>
          <a:graphicData uri="http://schemas.openxmlformats.org/drawingml/2006/table">
            <a:tbl>
              <a:tblPr/>
              <a:tblGrid>
                <a:gridCol w="3270339"/>
                <a:gridCol w="4756857"/>
                <a:gridCol w="297303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for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Squad health check (Spotify)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rates cards such as easy to release, fun, learning, mission, support, speed with traffic lights and trend arrows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quick, visual team-health conversation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Scrum.org open assessments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online quizzes on Scrum knowledge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Checking shared understanding of the framework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Maturity Self-Assessment on this site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statements across 7 dimensions with a radar chart and next steps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individual Scrum Master's growth plan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129284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results: spread beats average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Agile Assessment for All the Team Members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3895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average can hide a split: ratings of 1, 1, 5, 5 average 3 — but nobody thinks '3'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min, max and how many people are on each side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spread often means people experience the team differently — ask why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comments and look for themes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against our own past results, never against other teams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EF2FF"/>
          </a:solidFill>
          <a:ln w="12700">
            <a:solidFill>
              <a:srgbClr val="4F46E5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where we disagree first: that is where the learning is.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609344" cy="274320"/>
          </a:xfrm>
          <a:prstGeom prst="roundRect">
            <a:avLst>
              <a:gd name="adj" fmla="val 26667"/>
            </a:avLst>
          </a:prstGeom>
          <a:solidFill>
            <a:srgbClr val="ECFD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example: six people rate three statements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Agile Assessment for All the Team Members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63040"/>
          <a:ext cx="11000232" cy="914400"/>
        </p:xfrm>
        <a:graphic>
          <a:graphicData uri="http://schemas.openxmlformats.org/drawingml/2006/table">
            <a:tbl>
              <a:tblPr/>
              <a:tblGrid>
                <a:gridCol w="3714364"/>
                <a:gridCol w="2285762"/>
                <a:gridCol w="1285741"/>
                <a:gridCol w="37143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8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Ratings (1–5)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8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8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suggests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85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get timely feedback from stakeholders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2, 2, 3, 5, 5, 4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Split: some get feedback, some do not — find out why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Definition of Done is followed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4, 4, 5, 4, 4, 4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 agreement — a strength to protect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Retro actions get done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2, 2, 2, 3, 2, 1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Consistently low — a clear improvement target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2296" marR="82296" marT="82296" marB="8229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94360" y="5504688"/>
            <a:ext cx="11000232" cy="713232"/>
          </a:xfrm>
          <a:prstGeom prst="roundRect">
            <a:avLst>
              <a:gd name="adj" fmla="val 10256"/>
            </a:avLst>
          </a:prstGeom>
          <a:solidFill>
            <a:srgbClr val="ECFDF5"/>
          </a:solidFill>
          <a:ln w="12700">
            <a:solidFill>
              <a:srgbClr val="047857"/>
            </a:solidFill>
          </a:ln>
        </p:spPr>
        <p:txBody>
          <a:bodyPr wrap="square" lIns="0" tIns="203200" rIns="20320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data. The 'split' row is the most interesting: an average of 3.5 hides two different realities.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705356" cy="274320"/>
          </a:xfrm>
          <a:prstGeom prst="roundRect">
            <a:avLst>
              <a:gd name="adj" fmla="val 26667"/>
            </a:avLst>
          </a:prstGeom>
          <a:solidFill>
            <a:srgbClr val="FFFB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USE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teams use assessments in real life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Agile Assessment for All the Team Members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team health check that feeds the next retrospective's topics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when a new Scrum Master or coach joins a team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and after an improvement initiative to see if it made a difference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aggregated, team-level results are shared with leadership — never individual answers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plans: choose the one dimension with the most leverage for the next quarter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FE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Ways assessments go wrong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Agile Assessment for All the Team Members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anonymous, so answers are safe rather than honest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scores to compare teams or rank people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Trying to fix everything at once instead of choosing one focus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the survey but never acting on it, so people stop bothering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 too vague to answer with any real meaning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033272" cy="274320"/>
          </a:xfrm>
          <a:prstGeom prst="roundRect">
            <a:avLst>
              <a:gd name="adj" fmla="val 26667"/>
            </a:avLst>
          </a:prstGeom>
          <a:solidFill>
            <a:srgbClr val="F0F9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assess ourselves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Agile Assessment for All the Team Members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81328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463040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the dimensions and statements (10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4–6 dimensions with 3 statements each, using observable behaviours.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2185416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167128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anonymously (10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Individual, on a 1–5 scale, using a poll or paper slips.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94360" y="2889504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871216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 and look at the spread (15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distribution per statement, not just the average.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94360" y="3593592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575304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the widest gap (15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people see this differently? What evidence is there?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4360" y="4297680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4279392"/>
            <a:ext cx="10314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improvement experiment (10 min)</a:t>
            </a:r>
            <a:endParaRPr lang="en-US" sz="18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owner, a change, a date and how we will know it worked.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EEF2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Agile Assessment for All the Team Members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self-assessment is for learning, not judging — keep it anonymous and behaviour-based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and comments matter more than the average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focus area and turn it into an experiment</a:t>
            </a:r>
            <a:endParaRPr lang="en-US" sz="2200" dirty="0"/>
          </a:p>
          <a:p>
            <a:pPr marL="254000" indent="-2540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regularly and compare against our own past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74320"/>
            <a:ext cx="1321308" cy="274320"/>
          </a:xfrm>
          <a:prstGeom prst="roundRect">
            <a:avLst>
              <a:gd name="adj" fmla="val 26667"/>
            </a:avLst>
          </a:prstGeom>
          <a:solidFill>
            <a:srgbClr val="F1F5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21792"/>
            <a:ext cx="11000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deeper: sources worth your time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6400800"/>
            <a:ext cx="1100023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ScrumMaster Hub  ·  Agile Assessment for All the Team Members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22992" y="64556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463040"/>
            <a:ext cx="11000232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Scrum.org — open assessments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Scrum.org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WEBSITE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online assessments for checking Scrum knowledge.</a:t>
            </a:r>
            <a:pPr indent="0" marL="0">
              <a:buNone/>
            </a:pPr>
            <a:r>
              <a:rPr lang="en-US" sz="1200" u="sng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https://www.scrum.org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Health Check model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Spotify Engineering (Spotify Labs blog)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ARTICLE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visual, traffic-light approach to team health checks.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Self-Assessment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ScrumMaster Hub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ARTICLE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35-question, seven-dimension self-assessment with recommendations.</a:t>
            </a:r>
            <a:pPr indent="0" marL="0">
              <a:buNone/>
            </a:pPr>
            <a:r>
              <a:rPr lang="en-US" sz="1200" u="sng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https://scrummaster-hub.vercel.app/assessment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Coaching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Rachel Davies &amp; Liz Sedley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coaching techniques, including reviewing how a team is doing.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Retrospectives: Making Good Teams Great</a:t>
            </a:r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Esther Derby &amp; Diana Larsen</a:t>
            </a:r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BOOK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turn assessment findings into retrospective discussions.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ScrumMaster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Agile Assessment for All the Team Members</dc:title>
  <dc:subject>A shared, honest picture of how we work — and where to improve</dc:subject>
  <dc:creator>ScrumMaster Hub</dc:creator>
  <cp:lastModifiedBy>ScrumMaster Hub</cp:lastModifiedBy>
  <cp:revision>1</cp:revision>
  <dcterms:created xsi:type="dcterms:W3CDTF">2026-09-26T13:44:42Z</dcterms:created>
  <dcterms:modified xsi:type="dcterms:W3CDTF">2026-09-26T13:44:42Z</dcterms:modified>
</cp:coreProperties>
</file>