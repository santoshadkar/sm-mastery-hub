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Scrum feels broken, check the values first. A Daily Scrum without openness is theatre.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commitment gives its artifact a target to measure progress against — that is what makes the artifact transparent.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hyperlink" Target="https://www.scrum.org" TargetMode="External"/><Relationship Id="rId3" Type="http://schemas.openxmlformats.org/officeDocument/2006/relationships/hyperlink" Target="https://www.agilealliance.org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in a Nutshell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mental model of roles, events and artifacts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Scrum is, and why it is built on empiricism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accountabilities and what each one owns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five events, their timeboxes and their purpose in one sentence each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each artifact to its commitment (Product Goal, Sprint Goal, Definition of Done)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one Sprint from planning to retrospective using our own project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Scrum myth or fact?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5 statements, e.g. 'The Scrum Master assigns tasks' or 'Sprints can be any length'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stand on the 'myth' or 'fact' side of the room (or vote in chat)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reveal answers — note the split for later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to each statement as the concept slides answer 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5 min · Scrum in six words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writes a six-word description of what they think Scrum is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round-robin; the facilitator writes the words on a board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recurring words — 'meetings', 'sprints', 'stand-up'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is missing from the board: goals? feedback? learning?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Revisit the board at the end — the six-word descriptions should shift from mechanics (meetings) to outcomes (learning, feedback, goals).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Scrum is — and is not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framework that helps people generate value through adaptive solutions for complex problems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incomplete: it defines a small structure and leaves practices to the team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empiricism: knowledge comes from experience, decisions from what is observed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short, fixed-length iterations (Sprints) so we inspect real output often</a:t>
            </a:r>
            <a:endParaRPr lang="en-US" sz="19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project-management method, a set of meetings, or a guarantee of speed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Scrum's power comes from frequent inspection of real results — not from the meetings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Empiricism and the five values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of empiricism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— the work and its state are visible to everyone who needs them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— we check progress toward goals often enough to catch problems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— when something drifts, we adjust as soon as possible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values that make it work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— to the goals of the team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— on the work of the Sprint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— about the work and challenges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— for each other as capable, independent people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— to do the right thing and tackle tough problems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Team: three accountabilities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200046"/>
                <a:gridCol w="5028677"/>
                <a:gridCol w="37715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Maximising the value of the product; ordering and clarity of the Product Backlog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requirements scribe or a proxy with no authority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Master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effectiveness and Scrum being understood and enacted; coaching, facilitating, removing impediments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project manager, task-assigner or status collector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a usable Increment each Sprint: planning it, quality, adapting daily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group waiting to be told what to 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one product focus, typically ten or fewer people — no sub-teams or hierarchies inside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events and their timeboxes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229777"/>
                <a:gridCol w="6243375"/>
                <a:gridCol w="2527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in one sentence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Timebox (1-month Sprint)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Sprint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container: a fixed-length period in which all the work happens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month or less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why this Sprint matters, what we can do, and how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8 hours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Scrum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progress toward the Sprint Goal and adapt the 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the outcome with stakeholders and adapt the backlog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4 hours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Retrospective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how we worked and plan improvements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3 hours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Sprints get shorter events — a 2-week Sprint's Planning is usually about 4 hours at most.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artifacts and their commitments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74401"/>
                <a:gridCol w="4794973"/>
                <a:gridCol w="42308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commitment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Backlog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Ordered, evolving list of what the product needs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Goal — the long-term objective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Backlog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 + selected items + a plan to deliver them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 — the single objective for the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usable step toward the Product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Done — the shared standard for 'complete'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one two-week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Goal (set once)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'Help busy families plan a week of dinners in 10 minutes' — a meal-planning app.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3047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012188"/>
            <a:ext cx="10314432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Sprint Planning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Goal: 'A user can generate a 3-day plan from saved preferences.' Team pulls 5 backlog items and plans the first tasks.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8104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62758"/>
            <a:ext cx="10314432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1–9 · Build + Daily Scrum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each day: are we on track for the Sprint Goal? A blocked API is raised and fixed on day 3. Refinement continues for next Sprint.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53161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13328"/>
            <a:ext cx="10314432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Sprint Review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try the working plan generator; feedback: 'we need allergy filters.' The Product Owner re-orders the backlog.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82186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63898"/>
            <a:ext cx="10314432" cy="64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· Retrospective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pull requests waited two days for review. Action: first review within one working day, checked at the next retro.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 — notice every event produces a decision that changes what happens next.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Scrum beyond code — and on our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HR, legal and education teams run Scrum for campaigns, policy changes and projects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test: is the work complex, changing and dependent on feedback? Then Scrum is worth trying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Sprint length: ______ ; our Daily Scrum time: ______ ; our Definition of Done lives at: ______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 Owner: ______ ; our Scrum Master: ______ ; Developers: everyone else who builds the product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 together before we leave — anything left blank is a risk to fix this week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ways Scrum goes wrong early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Scrum as a meeting schedule rather than a feedback loop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Sprint Goal — just a list of tickets with a sentence on top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acting as project manager, assigning work and chasing status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Definition of Done, so 'done' means something different to every person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unavailable, so the team guesses and Sprint Reviews find surprises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draw our Sprint on one wall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Sprint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circle for the Sprint with the four events placed around it, with the timeboxes we chose.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46430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46020"/>
            <a:ext cx="10314432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people and artifacts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Product Backlog? Where is the Sprint Backlog visible? Where does the Increment show up?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44728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42900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questions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red dot on anything nobody can explain or agree 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415137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13308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follow-ups (5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 dot gets an owner and a date.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a small framework for complex work, built on transparency, inspection and adaptation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accountabilities, five events and three artifacts — each artifact has a commitment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Sprint Goal and Definition of Done are what keep the mechanics honest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magic: value comes from what we decide at each inspection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Scrum Guide together next week — it is short, free and the authoritative source.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 in a Nutshell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(2020)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authoritative definition of roles, events, artifacts and values.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Scrum.org — resources and open assessments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Scrum.org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learning paths, forums and a Scrum Open assessment to check understanding.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https://www.scrum.org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The Art of Doing Twice the Work in Half the Time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co-creator's account of why the mechanics exist and where the ideas came from.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Zombie Scrum Survival Guide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Christiaan Verwijs &amp; Johannes Schartau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Scrum looks like when the mechanics run but the values are missing — and how to fix it.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Alliance — Scrum glossary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Agile Alliance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definitions of Scrum terms.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https://www.agilealliance.org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in a Nutshell</dc:title>
  <dc:subject>One shared mental model of roles, events and artifacts</dc:subject>
  <dc:creator>ScrumMaster Hub</dc:creator>
  <cp:lastModifiedBy>ScrumMaster Hub</cp:lastModifiedBy>
  <cp:revision>1</cp:revision>
  <dcterms:created xsi:type="dcterms:W3CDTF">2026-09-26T13:44:41Z</dcterms:created>
  <dcterms:modified xsi:type="dcterms:W3CDTF">2026-09-26T13:44:41Z</dcterms:modified>
</cp:coreProperties>
</file>