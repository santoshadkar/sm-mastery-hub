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numbers. Always give the range and what would move it, never a single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scrummaster-hub.vercel.app/resources/articles/metrics/velocity-conversation-with-leadership" TargetMode="External"/><Relationship Id="rId2" Type="http://schemas.openxmlformats.org/officeDocument/2006/relationships/hyperlink" Target="https://scrumguides.or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and Its Importance to the Team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forecasting tool for the team — not a performance score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scrummaster-hub.vercel.app/workshops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Velocity and Its Importance to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velocity precisely and calculate it from Done work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velocity as a range to forecast Sprints and release dates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influences velocity and how to read a trend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targets and cross-team comparisons backfire (Goodhart's law)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our team's ground rules for how velocity will and will not be used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513332" cy="274320"/>
          </a:xfrm>
          <a:prstGeom prst="roundRect">
            <a:avLst>
              <a:gd name="adj" fmla="val 26667"/>
            </a:avLst>
          </a:prstGeom>
          <a:solidFill>
            <a:srgbClr val="F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 — pick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Velocity and Its Importance to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54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6 min · Commute-time forecast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2255012"/>
            <a:ext cx="4951476" cy="296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writes down their commute (or a routine trip) for the last five days</a:t>
            </a:r>
            <a:endParaRPr lang="en-US" sz="16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average and the fastest/slowest</a:t>
            </a:r>
            <a:endParaRPr lang="en-US" sz="16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what time would you tell a friend to expect you — one number or a range?</a:t>
            </a:r>
            <a:endParaRPr lang="en-US" sz="16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velocity: recent history gives a range, not a promise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281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6 min · Steps-per-day guess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60236" y="1991614"/>
            <a:ext cx="4951476" cy="322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estimates how many steps they will walk tomorrow</a:t>
            </a:r>
            <a:endParaRPr lang="en-US" sz="16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what their recent days actually looked like</a:t>
            </a:r>
            <a:endParaRPr lang="en-US" sz="16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is yesterday a better predictor than optimism?</a:t>
            </a:r>
            <a:endParaRPr lang="en-US" sz="16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Yesterday's Weather and velocity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Both games use the same logic as velocity: recent actuals beat wishful thinking as a forecast.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velocity is — and how it is calculated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Velocity and Its Importance to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of work (usually story points) a team completes in a Sprint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only items that are fully Done — no partial credit for started work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to one team's own estimating scale; points are not a universal unit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it over time and look at the range, not just the last number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describes the past; it is not a target for the future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= sum of points of items that met the Definition of Done in the Sprint.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velocity is for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Velocity and Its Importance to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uses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how much we can take into the next Sprint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a release: remaining points ÷ velocity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trends: something changed in how we work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about capacity, leave and interruptions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Misuses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 ('increase by 10% next quarter')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teams or ranking them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individuals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it to executives as productivity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moves velocity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Velocity and Its Importance to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5677539"/>
                <a:gridCol w="532269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shows up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changes (people join, leave, leave on holiday)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capacity rises or falls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Unplanned work (incidents, support)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planned items finish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debt and quality issues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slows and rework grows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Estimation drift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 quietly inflate or deflate over time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size and clarity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Big, unclear items finish late or partially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velocity trend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Velocity and Its Importance to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2527080"/>
                <a:gridCol w="4013598"/>
                <a:gridCol w="445955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meaning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ask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within a range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Predictable delivery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we use the range for forecasting?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Steadily rising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improvement — or point inflation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cycle time or stories completed change too?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Sudden drop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Absence, incident, tech debt, or new people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changed this Sprint?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or unclear stories; interruptions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we slice smaller and protect focus?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Goodhart's law: when the measure becomes the target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Velocity and Its Importance to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'When a measure becomes a target, it ceases to be a good measure' — the idea usually credited to Charles Goodhart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velocity is rewarded, people adjust points, not delivery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inflate; conversations about real value fade; trust in the number is lost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velocity with outcome measures: cycle time, quality, customer feedback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'what decision does this number support?' before reporting it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velocity by keeping it inside the team and only for forecasting.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forecasting a release from history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Velocity and Its Importance to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points, last six Sprints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77240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1: 18  ·  Sprint 2: 22  ·  Sprint 3: 20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4: 25  ·  Sprint 5: 19  ·  Sprint 6: 21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all six ≈ 20.8; average of the last three ≈ 21.7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18, highest 25 — this is our honest range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Forecast: 130 points remaining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460236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case: 130 ÷ 25 ≈ 5.2 Sprints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Likely: 130 ÷ 21 ≈ 6.2 Sprints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Cautious: 130 ÷ 18 ≈ 7.2 Sprints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up, since only whole Sprints exist on the calendar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stakeholders: 'most likely 6–7 Sprints; 5–6 if all goes well; 7–8 if it does not.'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when a target inflated the number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Velocity and Its Importance to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4277868"/>
                <a:gridCol w="3055620"/>
                <a:gridCol w="366674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target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target ('+20%')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Velocity (points per Sprint)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Stories completed per Sprint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cycle time per story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days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days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people actually received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finished stories per Sprint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finished stories per Sprint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scenario. The number rose 20% but delivery did not change: the team re-sized its stories.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705356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velocity well in real life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Velocity and Its Importance to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Planning: compare the plan against the range from the last 3–6 Sprints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conversations: give a range and what would change it, not one date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and holidays: scale expected capacity by people available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leadership asks for velocity comparisons: explain points are team-specific and offer outcome measures instead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Retrospectives: use a drop or rise as a question, not a verdict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velocity gets misused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Velocity and Its Importance to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a velocity target or celebrating an increase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velocities across teams or showing them side by side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partially finished work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estimation scale mid-way and comparing before and after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velocity outside the team without context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033272" cy="274320"/>
          </a:xfrm>
          <a:prstGeom prst="roundRect">
            <a:avLst>
              <a:gd name="adj" fmla="val 26667"/>
            </a:avLst>
          </a:prstGeom>
          <a:solidFill>
            <a:srgbClr val="F0F9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forecast and agree our ground rules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Velocity and Its Importance to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our last 6 Sprints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Done points; note anything unusual for each Sprint.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185416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6712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range and forecast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Average, min, max; divide the remaining backlog by each.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889504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871216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trend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stable, rising or volatile? What is behind it?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3593592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575304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ground rules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stays in the team, is never a target, and is never used to compare teams.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4297680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279392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shared reply (5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say if someone asks to compare velocity across teams.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Velocity and Its Importance to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is Done points per Sprint, specific to one team, and useful for forecasting ranges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trends as questions: what changed?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and comparisons make the number meaningless (Goodhart's law)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ground rules and pair velocity with outcome measures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deeper: sources worth your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Velocity and Its Importance to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Estimating and Planning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Mike Cohn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treatment of velocity and release forecasting.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Agile Metrics for Predictability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Daniel Vacanti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metrics as an alternative to points-based velocity.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Velocity Conversation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ScrumMaster Hub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ARTICLE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respond when leadership asks why velocity has not gone up.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https://scrummaster-hub.vercel.app/resources/articles/metrics/velocity-conversation-with-leadership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Scrum Guide — forecasting in Sprint Planning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Ken Schwaber &amp; Jeff Sutherland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GUIDE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team forecasts what it can complete.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https://scrumguides.org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Goodhart's law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Charles Goodhart; phrased by Marilyn Strathern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RESEARCH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 of 'when a measure becomes a target, it ceases to be a good measure'.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ScrumMaster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Velocity and Its Importance to the Team</dc:title>
  <dc:subject>A forecasting tool for the team — not a performance score</dc:subject>
  <dc:creator>ScrumMaster Hub</dc:creator>
  <cp:lastModifiedBy>ScrumMaster Hub</cp:lastModifiedBy>
  <cp:revision>1</cp:revision>
  <dcterms:created xsi:type="dcterms:W3CDTF">2026-09-26T13:44:42Z</dcterms:created>
  <dcterms:modified xsi:type="dcterms:W3CDTF">2026-09-26T13:44:42Z</dcterms:modified>
</cp:coreProperties>
</file>