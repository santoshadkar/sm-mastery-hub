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Spend the most time on purpose and personal goals — teams skip them and then wonder why motivation is uneven.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liberatingstructures.com" TargetMode="External"/><Relationship Id="rId2" Type="http://schemas.openxmlformats.org/officeDocument/2006/relationships/hyperlink" Target="https://scrumguides.org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280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PRESENTATION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10424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Canvas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1148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one-page, team-authored picture of who we are and how we work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scrummaster-hub.vercel.app/workshops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417320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session you will be able to…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Team Canvas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a team canvas is for and how it differs from a working agreement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purpose, goals and values — and write each one well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differences in how teammates understand our purpose and roles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 first version of our own canvas together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where the canvas will live and when we will revisit it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513332" cy="274320"/>
          </a:xfrm>
          <a:prstGeom prst="roundRect">
            <a:avLst>
              <a:gd name="adj" fmla="val 26667"/>
            </a:avLst>
          </a:prstGeom>
          <a:solidFill>
            <a:srgbClr val="FFF1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BREAKER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breaker — pick one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Team Canvas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463040"/>
            <a:ext cx="5317236" cy="3895344"/>
          </a:xfrm>
          <a:prstGeom prst="roundRect">
            <a:avLst>
              <a:gd name="adj" fmla="val 18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00200"/>
            <a:ext cx="4951476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 · 5 min · Why did you join?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2007108"/>
            <a:ext cx="4951476" cy="3214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person shares in one sentence what drew them to this team or product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each answer on a sticky note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the notes: mission, people, learning, craft, other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how different our reasons are — and what we share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77356" y="1463040"/>
            <a:ext cx="5317236" cy="3895344"/>
          </a:xfrm>
          <a:prstGeom prst="roundRect">
            <a:avLst>
              <a:gd name="adj" fmla="val 18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0236" y="1600200"/>
            <a:ext cx="495147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 · 8 min · Our team as a vehicle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60236" y="2286000"/>
            <a:ext cx="4951476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pairs or trios, draw the team as a vehicle: bus, sailboat, relay team, rocket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where the engine, steering and brakes are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group presents its drawing in 60 seconds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which picture is closest to how it really feels today?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FFF1F2"/>
          </a:solidFill>
          <a:ln w="12700">
            <a:solidFill>
              <a:srgbClr val="BE123C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Debrief: The differences are the point: a canvas exists because people rarely share the same picture of the team without talking about it.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team canvas is — and why teams need one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Team Canvas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visual page where a team writes down its purpose, goals, values, roles and ways of working</a:t>
            </a:r>
            <a:endParaRPr lang="en-US" sz="19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together in a workshop: the conversation matters more than the finished page</a:t>
            </a:r>
            <a:endParaRPr lang="en-US" sz="19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hidden assumptions visible before they turn into friction mid-project</a:t>
            </a:r>
            <a:endParaRPr lang="en-US" sz="19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Complements — not replaces — the Product Goal, Sprint Goal and working agreement</a:t>
            </a:r>
            <a:endParaRPr lang="en-US" sz="19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at kickoff, after a reorg or merger, and whenever membership changes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canvas is an alignment tool. If nobody argues while filling it in, we probably skipped the useful part.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vs. goals vs. values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Team Canvas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63040"/>
          <a:ext cx="11000232" cy="914400"/>
        </p:xfrm>
        <a:graphic>
          <a:graphicData uri="http://schemas.openxmlformats.org/drawingml/2006/table">
            <a:tbl>
              <a:tblPr/>
              <a:tblGrid>
                <a:gridCol w="1613367"/>
                <a:gridCol w="2933395"/>
                <a:gridCol w="2200046"/>
                <a:gridCol w="425342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question it answers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 example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Stronger example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do we exist?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 features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 paying for an order the least stressful minute of a customer's day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Common goals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 we want to achieve, and by when?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 quality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Cut failed payments this quarter, checked in each Sprint Review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 goals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each person want from being here?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(left blank)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'I want to learn the payments domain' — so we pair on it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will we behave when it is hard?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Teamwork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raise risks early; we ship small and reversible changes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boxes we will fill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Team Canvas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463040"/>
            <a:ext cx="5317236" cy="3895344"/>
          </a:xfrm>
          <a:prstGeom prst="roundRect">
            <a:avLst>
              <a:gd name="adj" fmla="val 18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00200"/>
            <a:ext cx="4951476" cy="312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are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77240" y="2022602"/>
            <a:ext cx="4951476" cy="3198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— why we exist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goals — what success looks like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goals — what each of us wants to grow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— how we behave under pressure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and skills — who brings what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77356" y="1463040"/>
            <a:ext cx="5317236" cy="3895344"/>
          </a:xfrm>
          <a:prstGeom prst="roundRect">
            <a:avLst>
              <a:gd name="adj" fmla="val 18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0236" y="1600200"/>
            <a:ext cx="4951476" cy="312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work together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460236" y="2022602"/>
            <a:ext cx="4951476" cy="3198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 — what we can lean on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 and risks — where we are exposed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and expectations — what we need from each other and from outside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and activities — the habits that keep us aligned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Adapted from the widely used Team Canvas format — rename or add boxes to suit your team.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Roles, skills and cover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Team Canvas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Scrum accountabilities (Product Owner, Scrum Master, Developers) separate from the skills each person brings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skills on a simple matrix: who is expert, who can help, who wants to learn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single points of failure — skills only one person has (the 'bus factor')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 'T-shaped' people: deep in one area, useful across several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gaps into learning goals or pairing plans rather than blame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values to behaviours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Team Canvas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63040"/>
          <a:ext cx="11000232" cy="914400"/>
        </p:xfrm>
        <a:graphic>
          <a:graphicData uri="http://schemas.openxmlformats.org/drawingml/2006/table">
            <a:tbl>
              <a:tblPr/>
              <a:tblGrid>
                <a:gridCol w="1806008"/>
                <a:gridCol w="4925477"/>
                <a:gridCol w="426874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will see…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will not see…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Openness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Unfinished work shown early; 'I don't know' said out loud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Surprises revealed at the Sprint Review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Ownership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People pick up the next most valuable item, not only their own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Waiting to be assigned work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experiments after retros; mistakes shared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Blame after incidents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Respect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Meetings start on time; everyone finishes their point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 conversations and multitasking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value is only real if we can name a behaviour that shows it — and one that would break it.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609344" cy="274320"/>
          </a:xfrm>
          <a:prstGeom prst="roundRect">
            <a:avLst>
              <a:gd name="adj" fmla="val 26667"/>
            </a:avLst>
          </a:prstGeom>
          <a:solidFill>
            <a:srgbClr val="ECFD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EXAMPLE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example: the 'Checkout Experience' team canvas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Team Canvas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463040"/>
            <a:ext cx="5317236" cy="3895344"/>
          </a:xfrm>
          <a:prstGeom prst="roundRect">
            <a:avLst>
              <a:gd name="adj" fmla="val 18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00200"/>
            <a:ext cx="4951476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are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2007108"/>
            <a:ext cx="4951476" cy="3214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make paying for an order the least stressful minute of a customer's day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goal: cut failed payments this quarter; check progress each Sprint Review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goals: Priya wants payments depth; Sam wants to lead refinement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Values: raise risks early; small releases; explain the why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77356" y="1463040"/>
            <a:ext cx="5317236" cy="3895344"/>
          </a:xfrm>
          <a:prstGeom prst="roundRect">
            <a:avLst>
              <a:gd name="adj" fmla="val 18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0236" y="1600200"/>
            <a:ext cx="4951476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work together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60236" y="2007108"/>
            <a:ext cx="4951476" cy="3214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Strengths: strong test automation; fast pull-request culture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only one person knows the payment-provider integration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Needs: a product owner decision within one working day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Rules: no meetings Wednesday afternoons; pair on the integration each Sprint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CFDF5"/>
          </a:solidFill>
          <a:ln w="12700">
            <a:solidFill>
              <a:srgbClr val="047857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team. Notice how the risk box directly produced a pairing rule.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705356" cy="274320"/>
          </a:xfrm>
          <a:prstGeom prst="roundRect">
            <a:avLst>
              <a:gd name="adj" fmla="val 26667"/>
            </a:avLst>
          </a:prstGeom>
          <a:solidFill>
            <a:srgbClr val="FFFB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USE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 team canvas pays off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Team Canvas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 of a new team: aligns people who have never worked together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reorg or merger: two teams' habits become one team's shared picture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joiners: a one-page 'who we are' beats an hour of ad-hoc explanations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conversations: shows what the team is for and what it needs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Retrospectives: a reference when we ask 'are we still the team we said we wanted to be?'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321308" cy="274320"/>
          </a:xfrm>
          <a:prstGeom prst="roundRect">
            <a:avLst>
              <a:gd name="adj" fmla="val 26667"/>
            </a:avLst>
          </a:prstGeom>
          <a:solidFill>
            <a:srgbClr val="FE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canvases end up as posters nobody reads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Team Canvas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facilitator writes it for the team, so nobody owns it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Skipping disagreements — a clean canvas usually means a shallow conversation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values ('teamwork', 'quality') that cannot change any behaviour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Filling it once and never revisiting it as the team and work change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Hiding the personal goals and needs boxes because they feel uncomfortable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033272" cy="274320"/>
          </a:xfrm>
          <a:prstGeom prst="roundRect">
            <a:avLst>
              <a:gd name="adj" fmla="val 26667"/>
            </a:avLst>
          </a:prstGeom>
          <a:solidFill>
            <a:srgbClr val="F0F9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it: fill in our canvas (90–120 minutes)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Team Canvas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81328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463040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the boxes (10 min)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 each box; agree we can rename or add boxes.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4360" y="2185416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2167128"/>
            <a:ext cx="10314432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and goals (40 min)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writes purpose alone, then compare — the variance is the discussion. Then common and personal goals.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4360" y="3168396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3150108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Strengths, risks and needs (25 min)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brainstorm, cluster, and pick the top item in each box.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94360" y="3872484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3854196"/>
            <a:ext cx="10314432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Roles, rules and values (25 min)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who covers what, the few rules we will keep, and behaviours that show each value.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94360" y="4855464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4837176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(10 min)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aloud, decide where it lives, and set a revisit date.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321308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Team Canvas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 canvas aligns purpose, goals, values, roles and ways of working on one page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is in the conversation — especially where people disagree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values into observable behaviours and risks into concrete actions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visible and revisit it when the team or the work changes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321308" cy="274320"/>
          </a:xfrm>
          <a:prstGeom prst="roundRect">
            <a:avLst>
              <a:gd name="adj" fmla="val 26667"/>
            </a:avLst>
          </a:prstGeom>
          <a:solidFill>
            <a:srgbClr val="F1F5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DEEPER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deeper: sources worth your time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Team Canvas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Canvas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A free, widely used team-alignment canvas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WEBSITE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for 'Team Canvas' for the original template and facilitation guide.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Why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Simon Sinek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BOOK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popular framing for thinking about purpose before goals.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Generation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Alexander Osterwalder &amp; Yves Pigneur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BOOK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canvas-on-a-page approach that inspired many team and product canvases.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Liberating Structures — Purpose-to-Practice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Henri Lipmanowicz &amp; Keith McCandless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WEBSITE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way to move from purpose to concrete practices.</a:t>
            </a:r>
            <a:pPr indent="0" marL="0">
              <a:buNone/>
            </a:pPr>
            <a:r>
              <a:rPr lang="en-US" sz="1200" u="sng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https://liberatingstructures.com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Scrum Guide — Product Goal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Ken Schwaber &amp; Jeff Sutherland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GUIDE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Product Goal gives the team a long-term objective.</a:t>
            </a:r>
            <a:pPr indent="0" marL="0">
              <a:buNone/>
            </a:pPr>
            <a:r>
              <a:rPr lang="en-US" sz="1200" u="sng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https://scrumguides.org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ScrumMaster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Canvas</dc:title>
  <dc:subject>A one-page, team-authored picture of who we are and how we work</dc:subject>
  <dc:creator>ScrumMaster Hub</dc:creator>
  <cp:lastModifiedBy>ScrumMaster Hub</cp:lastModifiedBy>
  <cp:revision>1</cp:revision>
  <dcterms:created xsi:type="dcterms:W3CDTF">2026-09-26T13:44:41Z</dcterms:created>
  <dcterms:modified xsi:type="dcterms:W3CDTF">2026-09-26T13:44:41Z</dcterms:modified>
</cp:coreProperties>
</file>